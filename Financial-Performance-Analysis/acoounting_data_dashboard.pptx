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744" r:id="rId2"/>
  </p:sldMasterIdLst>
  <p:notesMasterIdLst>
    <p:notesMasterId r:id="rId10"/>
  </p:notesMasterIdLst>
  <p:sldIdLst>
    <p:sldId id="258" r:id="rId3"/>
    <p:sldId id="257" r:id="rId4"/>
    <p:sldId id="259" r:id="rId5"/>
    <p:sldId id="262" r:id="rId6"/>
    <p:sldId id="263" r:id="rId7"/>
    <p:sldId id="264" r:id="rId8"/>
    <p:sldId id="26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0" autoAdjust="0"/>
    <p:restoredTop sz="86410" autoAdjust="0"/>
  </p:normalViewPr>
  <p:slideViewPr>
    <p:cSldViewPr snapToGrid="0" snapToObjects="1">
      <p:cViewPr varScale="1">
        <p:scale>
          <a:sx n="63" d="100"/>
          <a:sy n="63" d="100"/>
        </p:scale>
        <p:origin x="57" y="75"/>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286AAC-25DA-42D7-9A74-002E6877391C}" type="datetimeFigureOut">
              <a:rPr lang="en-IN" smtClean="0"/>
              <a:t>30-01-2026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6AB0A6-B782-4C01-A7FC-EC175085BE44}" type="slidenum">
              <a:rPr lang="en-IN" smtClean="0"/>
              <a:t>‹#›</a:t>
            </a:fld>
            <a:endParaRPr lang="en-IN"/>
          </a:p>
        </p:txBody>
      </p:sp>
    </p:spTree>
    <p:extLst>
      <p:ext uri="{BB962C8B-B14F-4D97-AF65-F5344CB8AC3E}">
        <p14:creationId xmlns:p14="http://schemas.microsoft.com/office/powerpoint/2010/main" val="9992625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textbox</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Revenue vs Expenditure trend chart</a:t>
            </a:r>
            <a:endParaRPr dirty="0"/>
          </a:p>
          <a:p>
            <a:r>
              <a:rPr b="0" dirty="0"/>
              <a:t>No alt text provided</a:t>
            </a:r>
            <a:endParaRPr dirty="0"/>
          </a:p>
          <a:p>
            <a:endParaRPr dirty="0"/>
          </a:p>
          <a:p>
            <a:r>
              <a:rPr b="1" dirty="0"/>
              <a:t>lineChart</a:t>
            </a:r>
            <a:endParaRPr dirty="0"/>
          </a:p>
          <a:p>
            <a:r>
              <a:rPr b="0" dirty="0"/>
              <a:t>No alt text provided</a:t>
            </a:r>
            <a:endParaRPr dirty="0"/>
          </a:p>
          <a:p>
            <a:endParaRPr dirty="0"/>
          </a:p>
          <a:p>
            <a:r>
              <a:rPr b="1" dirty="0"/>
              <a:t>lineChart</a:t>
            </a:r>
            <a:endParaRPr dirty="0"/>
          </a:p>
          <a:p>
            <a:r>
              <a:rPr b="0" dirty="0"/>
              <a:t>No alt text provided</a:t>
            </a:r>
            <a:endParaRPr dirty="0"/>
          </a:p>
          <a:p>
            <a:endParaRPr dirty="0"/>
          </a:p>
          <a:p>
            <a:r>
              <a:rPr b="1" dirty="0"/>
              <a:t>lineChart</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27ED9C8-F09A-4D9E-BEC0-4725162E21FF}"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352376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7ED9C8-F09A-4D9E-BEC0-4725162E21FF}"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121860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41331523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7ED9C8-F09A-4D9E-BEC0-4725162E21FF}"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37976806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7ED9C8-F09A-4D9E-BEC0-4725162E21FF}" type="datetimeFigureOut">
              <a:rPr lang="en-US" smtClean="0"/>
              <a:t>1/30/2026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0785258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7ED9C8-F09A-4D9E-BEC0-4725162E21FF}" type="datetimeFigureOut">
              <a:rPr lang="en-US" smtClean="0"/>
              <a:t>1/30/2026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5176482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6717511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4743015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1121190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627ED9C8-F09A-4D9E-BEC0-4725162E21FF}" type="datetimeFigureOut">
              <a:rPr lang="en-US" smtClean="0"/>
              <a:t>1/30/2026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4799830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7253541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99198160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4543102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6741996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120059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7ED9C8-F09A-4D9E-BEC0-4725162E21FF}"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426146270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7ED9C8-F09A-4D9E-BEC0-4725162E21FF}"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650800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1/30/2026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627ED9C8-F09A-4D9E-BEC0-4725162E21FF}" type="datetimeFigureOut">
              <a:rPr lang="en-US" smtClean="0"/>
              <a:t>1/30/2026</a:t>
            </a:fld>
            <a:endParaRPr lang="en-US"/>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824777607"/>
      </p:ext>
    </p:extLst>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3" Type="http://schemas.openxmlformats.org/officeDocument/2006/relationships/hyperlink" Target="https://app.powerbi.com/groups/me/reports/082a2321-763f-465f-8011-d9838265a4ba/?pbi_source=PowerPoint" TargetMode="External"/><Relationship Id="rId2" Type="http://schemas.openxmlformats.org/officeDocument/2006/relationships/notesSlide" Target="../notesSlides/notesSlide1.xml"/><Relationship Id="rId1" Type="http://schemas.openxmlformats.org/officeDocument/2006/relationships/slideLayout" Target="../slideLayouts/slideLayout19.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68EDF-8233-E0F3-85D7-CA3299FDB5F7}"/>
              </a:ext>
            </a:extLst>
          </p:cNvPr>
          <p:cNvSpPr>
            <a:spLocks noGrp="1"/>
          </p:cNvSpPr>
          <p:nvPr>
            <p:ph type="title"/>
          </p:nvPr>
        </p:nvSpPr>
        <p:spPr>
          <a:xfrm>
            <a:off x="1295400" y="4655820"/>
            <a:ext cx="3749040" cy="617220"/>
          </a:xfrm>
        </p:spPr>
        <p:txBody>
          <a:bodyPr>
            <a:noAutofit/>
          </a:bodyPr>
          <a:lstStyle/>
          <a:p>
            <a:br>
              <a:rPr lang="en-IN" sz="4000" b="1" dirty="0">
                <a:latin typeface="Arial" panose="020B0604020202020204" pitchFamily="34" charset="0"/>
                <a:ea typeface="Tahoma" panose="020B0604030504040204" pitchFamily="34" charset="0"/>
                <a:cs typeface="Arial" panose="020B0604020202020204" pitchFamily="34" charset="0"/>
              </a:rPr>
            </a:br>
            <a:br>
              <a:rPr lang="en-IN" sz="4000" b="1" dirty="0">
                <a:latin typeface="Arial" panose="020B0604020202020204" pitchFamily="34" charset="0"/>
                <a:ea typeface="Tahoma" panose="020B0604030504040204" pitchFamily="34" charset="0"/>
                <a:cs typeface="Arial" panose="020B0604020202020204" pitchFamily="34" charset="0"/>
              </a:rPr>
            </a:br>
            <a:br>
              <a:rPr lang="en-IN" sz="4000" b="1" dirty="0">
                <a:latin typeface="Arial" panose="020B0604020202020204" pitchFamily="34" charset="0"/>
                <a:ea typeface="Tahoma" panose="020B0604030504040204" pitchFamily="34" charset="0"/>
                <a:cs typeface="Arial" panose="020B0604020202020204" pitchFamily="34" charset="0"/>
              </a:rPr>
            </a:br>
            <a:br>
              <a:rPr lang="en-IN" sz="4000" b="1" dirty="0">
                <a:latin typeface="Arial" panose="020B0604020202020204" pitchFamily="34" charset="0"/>
                <a:ea typeface="Tahoma" panose="020B0604030504040204" pitchFamily="34" charset="0"/>
                <a:cs typeface="Arial" panose="020B0604020202020204" pitchFamily="34" charset="0"/>
              </a:rPr>
            </a:br>
            <a:br>
              <a:rPr lang="en-IN" sz="4000" b="1" dirty="0">
                <a:latin typeface="Arial" panose="020B0604020202020204" pitchFamily="34" charset="0"/>
                <a:ea typeface="Tahoma" panose="020B0604030504040204" pitchFamily="34" charset="0"/>
                <a:cs typeface="Arial" panose="020B0604020202020204" pitchFamily="34" charset="0"/>
              </a:rPr>
            </a:br>
            <a:br>
              <a:rPr lang="en-IN" sz="4000" b="1" dirty="0">
                <a:latin typeface="Arial" panose="020B0604020202020204" pitchFamily="34" charset="0"/>
                <a:ea typeface="Tahoma" panose="020B0604030504040204" pitchFamily="34" charset="0"/>
                <a:cs typeface="Arial" panose="020B0604020202020204" pitchFamily="34" charset="0"/>
              </a:rPr>
            </a:br>
            <a:br>
              <a:rPr lang="en-IN" sz="4000" b="1" dirty="0">
                <a:latin typeface="Arial" panose="020B0604020202020204" pitchFamily="34" charset="0"/>
                <a:ea typeface="Tahoma" panose="020B0604030504040204" pitchFamily="34" charset="0"/>
                <a:cs typeface="Arial" panose="020B0604020202020204" pitchFamily="34" charset="0"/>
              </a:rPr>
            </a:br>
            <a:br>
              <a:rPr lang="en-IN" sz="4000" b="1" dirty="0">
                <a:latin typeface="Arial" panose="020B0604020202020204" pitchFamily="34" charset="0"/>
                <a:ea typeface="Tahoma" panose="020B0604030504040204" pitchFamily="34" charset="0"/>
                <a:cs typeface="Arial" panose="020B0604020202020204" pitchFamily="34" charset="0"/>
              </a:rPr>
            </a:br>
            <a:br>
              <a:rPr lang="en-IN" sz="4000" b="1" dirty="0">
                <a:latin typeface="Arial" panose="020B0604020202020204" pitchFamily="34" charset="0"/>
                <a:ea typeface="Tahoma" panose="020B0604030504040204" pitchFamily="34" charset="0"/>
                <a:cs typeface="Arial" panose="020B0604020202020204" pitchFamily="34" charset="0"/>
              </a:rPr>
            </a:br>
            <a:endParaRPr lang="en-IN" sz="4000" b="1" dirty="0">
              <a:latin typeface="Arial" panose="020B0604020202020204" pitchFamily="34" charset="0"/>
              <a:ea typeface="Tahoma" panose="020B0604030504040204" pitchFamily="34" charset="0"/>
              <a:cs typeface="Arial" panose="020B0604020202020204" pitchFamily="34" charset="0"/>
            </a:endParaRPr>
          </a:p>
        </p:txBody>
      </p:sp>
      <p:pic>
        <p:nvPicPr>
          <p:cNvPr id="10" name="Content Placeholder 9">
            <a:extLst>
              <a:ext uri="{FF2B5EF4-FFF2-40B4-BE49-F238E27FC236}">
                <a16:creationId xmlns:a16="http://schemas.microsoft.com/office/drawing/2014/main" id="{A522ECB2-8F39-F813-12C5-6357D2A9D28D}"/>
              </a:ext>
            </a:extLst>
          </p:cNvPr>
          <p:cNvPicPr>
            <a:picLocks noGrp="1" noChangeAspect="1"/>
          </p:cNvPicPr>
          <p:nvPr>
            <p:ph idx="1"/>
          </p:nvPr>
        </p:nvPicPr>
        <p:blipFill>
          <a:blip r:embed="rId2"/>
          <a:stretch>
            <a:fillRect/>
          </a:stretch>
        </p:blipFill>
        <p:spPr>
          <a:xfrm>
            <a:off x="975678" y="582783"/>
            <a:ext cx="1813242" cy="1853617"/>
          </a:xfrm>
        </p:spPr>
      </p:pic>
      <p:sp>
        <p:nvSpPr>
          <p:cNvPr id="4" name="Text Placeholder 3">
            <a:extLst>
              <a:ext uri="{FF2B5EF4-FFF2-40B4-BE49-F238E27FC236}">
                <a16:creationId xmlns:a16="http://schemas.microsoft.com/office/drawing/2014/main" id="{4CEA2C6A-7384-B0CC-9488-250E4144E650}"/>
              </a:ext>
            </a:extLst>
          </p:cNvPr>
          <p:cNvSpPr>
            <a:spLocks noGrp="1"/>
          </p:cNvSpPr>
          <p:nvPr>
            <p:ph type="body" sz="half" idx="2"/>
          </p:nvPr>
        </p:nvSpPr>
        <p:spPr>
          <a:xfrm>
            <a:off x="2727960" y="662940"/>
            <a:ext cx="8915400" cy="1354360"/>
          </a:xfrm>
        </p:spPr>
        <p:txBody>
          <a:bodyPr>
            <a:normAutofit/>
          </a:bodyPr>
          <a:lstStyle/>
          <a:p>
            <a:pPr algn="ctr"/>
            <a:r>
              <a:rPr lang="en-IN" sz="3600" b="1" dirty="0">
                <a:latin typeface="Arial" panose="020B0604020202020204" pitchFamily="34" charset="0"/>
                <a:ea typeface="Tahoma" panose="020B0604030504040204" pitchFamily="34" charset="0"/>
                <a:cs typeface="Arial" panose="020B0604020202020204" pitchFamily="34" charset="0"/>
              </a:rPr>
              <a:t>Accounting &amp; Financial Management Analysis</a:t>
            </a:r>
            <a:endParaRPr lang="en-IN" sz="3600" dirty="0"/>
          </a:p>
        </p:txBody>
      </p:sp>
      <p:sp>
        <p:nvSpPr>
          <p:cNvPr id="12" name="TextBox 11">
            <a:extLst>
              <a:ext uri="{FF2B5EF4-FFF2-40B4-BE49-F238E27FC236}">
                <a16:creationId xmlns:a16="http://schemas.microsoft.com/office/drawing/2014/main" id="{B6A81E2C-52DD-D397-1EDF-87D447C8973C}"/>
              </a:ext>
            </a:extLst>
          </p:cNvPr>
          <p:cNvSpPr txBox="1"/>
          <p:nvPr/>
        </p:nvSpPr>
        <p:spPr>
          <a:xfrm>
            <a:off x="-53340" y="2613660"/>
            <a:ext cx="12047220" cy="2989986"/>
          </a:xfrm>
          <a:prstGeom prst="rect">
            <a:avLst/>
          </a:prstGeom>
          <a:noFill/>
        </p:spPr>
        <p:txBody>
          <a:bodyPr wrap="square">
            <a:spAutoFit/>
          </a:bodyPr>
          <a:lstStyle/>
          <a:p>
            <a:pPr lvl="1">
              <a:lnSpc>
                <a:spcPct val="150000"/>
              </a:lnSpc>
            </a:pPr>
            <a:r>
              <a:rPr lang="en-GB" sz="2800" b="1" dirty="0">
                <a:solidFill>
                  <a:schemeClr val="bg1"/>
                </a:solidFill>
              </a:rPr>
              <a:t>📌 </a:t>
            </a:r>
            <a:r>
              <a:rPr lang="en-GB" sz="2800" b="1" dirty="0">
                <a:solidFill>
                  <a:schemeClr val="bg1">
                    <a:lumMod val="85000"/>
                    <a:lumOff val="15000"/>
                  </a:schemeClr>
                </a:solidFill>
              </a:rPr>
              <a:t>Project Overview</a:t>
            </a:r>
            <a:br>
              <a:rPr lang="en-GB" sz="2800" b="1" dirty="0">
                <a:solidFill>
                  <a:schemeClr val="bg2">
                    <a:lumMod val="75000"/>
                  </a:schemeClr>
                </a:solidFill>
              </a:rPr>
            </a:br>
            <a:r>
              <a:rPr lang="en-GB" sz="2000" dirty="0">
                <a:solidFill>
                  <a:schemeClr val="bg1"/>
                </a:solidFill>
                <a:latin typeface="Arial" panose="020B0604020202020204" pitchFamily="34" charset="0"/>
                <a:cs typeface="Arial" panose="020B0604020202020204" pitchFamily="34" charset="0"/>
              </a:rPr>
              <a:t>This project presents a </a:t>
            </a:r>
            <a:r>
              <a:rPr lang="en-GB" sz="2000" b="1" dirty="0">
                <a:solidFill>
                  <a:schemeClr val="bg1"/>
                </a:solidFill>
                <a:latin typeface="Arial" panose="020B0604020202020204" pitchFamily="34" charset="0"/>
                <a:cs typeface="Arial" panose="020B0604020202020204" pitchFamily="34" charset="0"/>
              </a:rPr>
              <a:t>financial performance analysis</a:t>
            </a:r>
            <a:r>
              <a:rPr lang="en-GB" sz="2000" dirty="0">
                <a:solidFill>
                  <a:schemeClr val="bg1"/>
                </a:solidFill>
                <a:latin typeface="Arial" panose="020B0604020202020204" pitchFamily="34" charset="0"/>
                <a:cs typeface="Arial" panose="020B0604020202020204" pitchFamily="34" charset="0"/>
              </a:rPr>
              <a:t> for a sample accounting &amp; financial services firm (similar to CA / finance BPO organizations). The objective is to </a:t>
            </a:r>
            <a:r>
              <a:rPr lang="en-GB" sz="2000" dirty="0" err="1">
                <a:solidFill>
                  <a:schemeClr val="bg1"/>
                </a:solidFill>
                <a:latin typeface="Arial" panose="020B0604020202020204" pitchFamily="34" charset="0"/>
                <a:cs typeface="Arial" panose="020B0604020202020204" pitchFamily="34" charset="0"/>
              </a:rPr>
              <a:t>analyze</a:t>
            </a:r>
            <a:r>
              <a:rPr lang="en-GB" sz="2000" dirty="0">
                <a:solidFill>
                  <a:schemeClr val="bg1"/>
                </a:solidFill>
                <a:latin typeface="Arial" panose="020B0604020202020204" pitchFamily="34" charset="0"/>
                <a:cs typeface="Arial" panose="020B0604020202020204" pitchFamily="34" charset="0"/>
              </a:rPr>
              <a:t> </a:t>
            </a:r>
            <a:r>
              <a:rPr lang="en-GB" sz="2000" b="1" dirty="0">
                <a:solidFill>
                  <a:schemeClr val="bg1"/>
                </a:solidFill>
                <a:latin typeface="Arial" panose="020B0604020202020204" pitchFamily="34" charset="0"/>
                <a:cs typeface="Arial" panose="020B0604020202020204" pitchFamily="34" charset="0"/>
              </a:rPr>
              <a:t>revenue, expenditure, profitability, and financial risk</a:t>
            </a:r>
            <a:r>
              <a:rPr lang="en-GB" sz="2000" dirty="0">
                <a:solidFill>
                  <a:schemeClr val="bg1"/>
                </a:solidFill>
                <a:latin typeface="Arial" panose="020B0604020202020204" pitchFamily="34" charset="0"/>
                <a:cs typeface="Arial" panose="020B0604020202020204" pitchFamily="34" charset="0"/>
              </a:rPr>
              <a:t> using Power BI and provide clear, management‑level insights.</a:t>
            </a:r>
          </a:p>
          <a:p>
            <a:pPr lvl="1">
              <a:lnSpc>
                <a:spcPct val="150000"/>
              </a:lnSpc>
            </a:pPr>
            <a:r>
              <a:rPr lang="en-GB" sz="2000" dirty="0">
                <a:solidFill>
                  <a:schemeClr val="bg1"/>
                </a:solidFill>
                <a:latin typeface="Arial" panose="020B0604020202020204" pitchFamily="34" charset="0"/>
                <a:cs typeface="Arial" panose="020B0604020202020204" pitchFamily="34" charset="0"/>
              </a:rPr>
              <a:t>The project is designed as a </a:t>
            </a:r>
            <a:r>
              <a:rPr lang="en-GB" sz="2000" b="1" dirty="0">
                <a:solidFill>
                  <a:schemeClr val="bg1"/>
                </a:solidFill>
                <a:latin typeface="Arial" panose="020B0604020202020204" pitchFamily="34" charset="0"/>
                <a:cs typeface="Arial" panose="020B0604020202020204" pitchFamily="34" charset="0"/>
              </a:rPr>
              <a:t>realistic junior data analyst portfolio project</a:t>
            </a:r>
            <a:r>
              <a:rPr lang="en-GB" sz="2000" dirty="0">
                <a:solidFill>
                  <a:schemeClr val="bg1"/>
                </a:solidFill>
                <a:latin typeface="Arial" panose="020B0604020202020204" pitchFamily="34" charset="0"/>
                <a:cs typeface="Arial" panose="020B0604020202020204" pitchFamily="34" charset="0"/>
              </a:rPr>
              <a:t>, focusing on clarity, correct financial logic, and business interpretation rather than complex </a:t>
            </a:r>
            <a:r>
              <a:rPr lang="en-GB" sz="2000" dirty="0" err="1">
                <a:solidFill>
                  <a:schemeClr val="bg1"/>
                </a:solidFill>
                <a:latin typeface="Arial" panose="020B0604020202020204" pitchFamily="34" charset="0"/>
                <a:cs typeface="Arial" panose="020B0604020202020204" pitchFamily="34" charset="0"/>
              </a:rPr>
              <a:t>modeling</a:t>
            </a:r>
            <a:r>
              <a:rPr lang="en-GB" sz="2000" dirty="0">
                <a:solidFill>
                  <a:schemeClr val="bg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5229982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extbox ,cardVisual ,Revenue vs Expenditure trend chart ,lineChart ,lineChart ,lineChart ,slicer ,image.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Dashboard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31C791-12BF-FD85-7BAF-5D54677459B5}"/>
              </a:ext>
            </a:extLst>
          </p:cNvPr>
          <p:cNvSpPr txBox="1"/>
          <p:nvPr/>
        </p:nvSpPr>
        <p:spPr>
          <a:xfrm>
            <a:off x="1123950" y="1965960"/>
            <a:ext cx="10085070" cy="4725819"/>
          </a:xfrm>
          <a:prstGeom prst="rect">
            <a:avLst/>
          </a:prstGeom>
          <a:noFill/>
        </p:spPr>
        <p:txBody>
          <a:bodyPr wrap="square">
            <a:spAutoFit/>
          </a:bodyPr>
          <a:lstStyle/>
          <a:p>
            <a:pPr marL="285750" indent="-285750">
              <a:lnSpc>
                <a:spcPct val="150000"/>
              </a:lnSpc>
              <a:buFont typeface="Wingdings" panose="05000000000000000000" pitchFamily="2" charset="2"/>
              <a:buChar char="ü"/>
            </a:pPr>
            <a:r>
              <a:rPr lang="en-GB" b="1" dirty="0">
                <a:solidFill>
                  <a:schemeClr val="bg2">
                    <a:lumMod val="50000"/>
                  </a:schemeClr>
                </a:solidFill>
                <a:latin typeface="Arial" panose="020B0604020202020204" pitchFamily="34" charset="0"/>
                <a:cs typeface="Arial" panose="020B0604020202020204" pitchFamily="34" charset="0"/>
              </a:rPr>
              <a:t>Total Revenue:</a:t>
            </a:r>
            <a:r>
              <a:rPr lang="en-GB" dirty="0">
                <a:solidFill>
                  <a:schemeClr val="bg2">
                    <a:lumMod val="50000"/>
                  </a:schemeClr>
                </a:solidFill>
                <a:latin typeface="Arial" panose="020B0604020202020204" pitchFamily="34" charset="0"/>
                <a:cs typeface="Arial" panose="020B0604020202020204" pitchFamily="34" charset="0"/>
              </a:rPr>
              <a:t> 2.61M, consistently higher than expenditure, indicating stable business performance.</a:t>
            </a:r>
          </a:p>
          <a:p>
            <a:pPr marL="285750" indent="-285750">
              <a:lnSpc>
                <a:spcPct val="150000"/>
              </a:lnSpc>
              <a:buFont typeface="Wingdings" panose="05000000000000000000" pitchFamily="2" charset="2"/>
              <a:buChar char="ü"/>
            </a:pPr>
            <a:r>
              <a:rPr lang="en-GB" b="1" dirty="0">
                <a:solidFill>
                  <a:schemeClr val="bg2">
                    <a:lumMod val="50000"/>
                  </a:schemeClr>
                </a:solidFill>
                <a:latin typeface="Arial" panose="020B0604020202020204" pitchFamily="34" charset="0"/>
                <a:cs typeface="Arial" panose="020B0604020202020204" pitchFamily="34" charset="0"/>
              </a:rPr>
              <a:t>Total Expenditure:</a:t>
            </a:r>
            <a:r>
              <a:rPr lang="en-GB" dirty="0">
                <a:solidFill>
                  <a:schemeClr val="bg2">
                    <a:lumMod val="50000"/>
                  </a:schemeClr>
                </a:solidFill>
                <a:latin typeface="Arial" panose="020B0604020202020204" pitchFamily="34" charset="0"/>
                <a:cs typeface="Arial" panose="020B0604020202020204" pitchFamily="34" charset="0"/>
              </a:rPr>
              <a:t> 2.03M, closely aligned with revenue, showing controlled cost management.</a:t>
            </a:r>
          </a:p>
          <a:p>
            <a:pPr marL="285750" indent="-285750">
              <a:lnSpc>
                <a:spcPct val="150000"/>
              </a:lnSpc>
              <a:buFont typeface="Wingdings" panose="05000000000000000000" pitchFamily="2" charset="2"/>
              <a:buChar char="ü"/>
            </a:pPr>
            <a:r>
              <a:rPr lang="en-GB" b="1" dirty="0">
                <a:solidFill>
                  <a:schemeClr val="bg2">
                    <a:lumMod val="50000"/>
                  </a:schemeClr>
                </a:solidFill>
                <a:latin typeface="Arial" panose="020B0604020202020204" pitchFamily="34" charset="0"/>
                <a:cs typeface="Arial" panose="020B0604020202020204" pitchFamily="34" charset="0"/>
              </a:rPr>
              <a:t>Gross Profit:</a:t>
            </a:r>
            <a:r>
              <a:rPr lang="en-GB" dirty="0">
                <a:solidFill>
                  <a:schemeClr val="bg2">
                    <a:lumMod val="50000"/>
                  </a:schemeClr>
                </a:solidFill>
                <a:latin typeface="Arial" panose="020B0604020202020204" pitchFamily="34" charset="0"/>
                <a:cs typeface="Arial" panose="020B0604020202020204" pitchFamily="34" charset="0"/>
              </a:rPr>
              <a:t> 2.04M, reflecting strong core operational profitability.</a:t>
            </a:r>
          </a:p>
          <a:p>
            <a:pPr marL="285750" indent="-285750">
              <a:lnSpc>
                <a:spcPct val="150000"/>
              </a:lnSpc>
              <a:buFont typeface="Wingdings" panose="05000000000000000000" pitchFamily="2" charset="2"/>
              <a:buChar char="ü"/>
            </a:pPr>
            <a:r>
              <a:rPr lang="en-GB" b="1" dirty="0">
                <a:solidFill>
                  <a:schemeClr val="bg2">
                    <a:lumMod val="50000"/>
                  </a:schemeClr>
                </a:solidFill>
                <a:latin typeface="Arial" panose="020B0604020202020204" pitchFamily="34" charset="0"/>
                <a:cs typeface="Arial" panose="020B0604020202020204" pitchFamily="34" charset="0"/>
              </a:rPr>
              <a:t>Net Income:</a:t>
            </a:r>
            <a:r>
              <a:rPr lang="en-GB" dirty="0">
                <a:solidFill>
                  <a:schemeClr val="bg2">
                    <a:lumMod val="50000"/>
                  </a:schemeClr>
                </a:solidFill>
                <a:latin typeface="Arial" panose="020B0604020202020204" pitchFamily="34" charset="0"/>
                <a:cs typeface="Arial" panose="020B0604020202020204" pitchFamily="34" charset="0"/>
              </a:rPr>
              <a:t> 2.11M, remaining stable for most of the year with a slight dip during Oct–Nov due to lower activity.</a:t>
            </a:r>
          </a:p>
          <a:p>
            <a:pPr marL="285750" indent="-285750">
              <a:lnSpc>
                <a:spcPct val="150000"/>
              </a:lnSpc>
              <a:buFont typeface="Wingdings" panose="05000000000000000000" pitchFamily="2" charset="2"/>
              <a:buChar char="ü"/>
            </a:pPr>
            <a:r>
              <a:rPr lang="en-GB" b="1" dirty="0">
                <a:solidFill>
                  <a:schemeClr val="bg2">
                    <a:lumMod val="50000"/>
                  </a:schemeClr>
                </a:solidFill>
                <a:latin typeface="Arial" panose="020B0604020202020204" pitchFamily="34" charset="0"/>
                <a:cs typeface="Arial" panose="020B0604020202020204" pitchFamily="34" charset="0"/>
              </a:rPr>
              <a:t>Profit Margin:</a:t>
            </a:r>
            <a:r>
              <a:rPr lang="en-GB" dirty="0">
                <a:solidFill>
                  <a:schemeClr val="bg2">
                    <a:lumMod val="50000"/>
                  </a:schemeClr>
                </a:solidFill>
                <a:latin typeface="Arial" panose="020B0604020202020204" pitchFamily="34" charset="0"/>
                <a:cs typeface="Arial" panose="020B0604020202020204" pitchFamily="34" charset="0"/>
              </a:rPr>
              <a:t> 81%, indicating high operational efficiency across the period.</a:t>
            </a:r>
          </a:p>
          <a:p>
            <a:pPr marL="285750" indent="-285750">
              <a:lnSpc>
                <a:spcPct val="150000"/>
              </a:lnSpc>
              <a:buFont typeface="Wingdings" panose="05000000000000000000" pitchFamily="2" charset="2"/>
              <a:buChar char="ü"/>
            </a:pPr>
            <a:r>
              <a:rPr lang="en-GB" b="1" dirty="0">
                <a:solidFill>
                  <a:schemeClr val="bg2">
                    <a:lumMod val="50000"/>
                  </a:schemeClr>
                </a:solidFill>
                <a:latin typeface="Arial" panose="020B0604020202020204" pitchFamily="34" charset="0"/>
                <a:cs typeface="Arial" panose="020B0604020202020204" pitchFamily="34" charset="0"/>
              </a:rPr>
              <a:t>Debt-to-Equity Ratio:</a:t>
            </a:r>
            <a:r>
              <a:rPr lang="en-GB" dirty="0">
                <a:solidFill>
                  <a:schemeClr val="bg2">
                    <a:lumMod val="50000"/>
                  </a:schemeClr>
                </a:solidFill>
                <a:latin typeface="Arial" panose="020B0604020202020204" pitchFamily="34" charset="0"/>
                <a:cs typeface="Arial" panose="020B0604020202020204" pitchFamily="34" charset="0"/>
              </a:rPr>
              <a:t> Averaging around 1.7–1.9, suggesting manageable financial leverage with no major risk concerns.</a:t>
            </a:r>
          </a:p>
          <a:p>
            <a:pPr>
              <a:lnSpc>
                <a:spcPct val="150000"/>
              </a:lnSpc>
            </a:pPr>
            <a:endParaRPr lang="en-GB" dirty="0">
              <a:solidFill>
                <a:schemeClr val="bg2">
                  <a:lumMod val="50000"/>
                </a:schemeClr>
              </a:solidFill>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B8C6AEBE-082E-3B3E-E52D-95FD6B49ECE2}"/>
              </a:ext>
            </a:extLst>
          </p:cNvPr>
          <p:cNvSpPr txBox="1"/>
          <p:nvPr/>
        </p:nvSpPr>
        <p:spPr>
          <a:xfrm>
            <a:off x="365760" y="548640"/>
            <a:ext cx="11231880" cy="1200329"/>
          </a:xfrm>
          <a:prstGeom prst="rect">
            <a:avLst/>
          </a:prstGeom>
          <a:noFill/>
        </p:spPr>
        <p:txBody>
          <a:bodyPr wrap="square">
            <a:spAutoFit/>
          </a:bodyPr>
          <a:lstStyle/>
          <a:p>
            <a:pPr algn="ctr"/>
            <a:r>
              <a:rPr lang="en-IN" sz="3600" b="1" dirty="0">
                <a:solidFill>
                  <a:schemeClr val="bg2">
                    <a:lumMod val="75000"/>
                  </a:schemeClr>
                </a:solidFill>
                <a:latin typeface="Arial" panose="020B0604020202020204" pitchFamily="34" charset="0"/>
                <a:ea typeface="Tahoma" panose="020B0604030504040204" pitchFamily="34" charset="0"/>
                <a:cs typeface="Arial" panose="020B0604020202020204" pitchFamily="34" charset="0"/>
              </a:rPr>
              <a:t>Accounting &amp; Financial Management Analysis </a:t>
            </a:r>
            <a:r>
              <a:rPr lang="en-GB" sz="3600" b="1" dirty="0">
                <a:solidFill>
                  <a:schemeClr val="bg2">
                    <a:lumMod val="50000"/>
                  </a:schemeClr>
                </a:solidFill>
              </a:rPr>
              <a:t>Executive Summary</a:t>
            </a:r>
            <a:r>
              <a:rPr lang="en-IN" sz="3600" b="1" dirty="0">
                <a:solidFill>
                  <a:schemeClr val="bg2">
                    <a:lumMod val="50000"/>
                  </a:schemeClr>
                </a:solidFill>
                <a:latin typeface="Arial" panose="020B0604020202020204" pitchFamily="34" charset="0"/>
                <a:ea typeface="Tahoma" panose="020B0604030504040204" pitchFamily="34" charset="0"/>
                <a:cs typeface="Arial" panose="020B0604020202020204" pitchFamily="34" charset="0"/>
              </a:rPr>
              <a:t> </a:t>
            </a:r>
            <a:endParaRPr lang="en-IN" sz="3600" dirty="0">
              <a:solidFill>
                <a:schemeClr val="bg2">
                  <a:lumMod val="50000"/>
                </a:schemeClr>
              </a:solidFill>
            </a:endParaRPr>
          </a:p>
        </p:txBody>
      </p:sp>
    </p:spTree>
    <p:extLst>
      <p:ext uri="{BB962C8B-B14F-4D97-AF65-F5344CB8AC3E}">
        <p14:creationId xmlns:p14="http://schemas.microsoft.com/office/powerpoint/2010/main" val="1587727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16D957-D284-7B42-240B-012AD3698BD8}"/>
              </a:ext>
            </a:extLst>
          </p:cNvPr>
          <p:cNvSpPr txBox="1"/>
          <p:nvPr/>
        </p:nvSpPr>
        <p:spPr>
          <a:xfrm>
            <a:off x="266700" y="99060"/>
            <a:ext cx="11673840" cy="7421968"/>
          </a:xfrm>
          <a:prstGeom prst="rect">
            <a:avLst/>
          </a:prstGeom>
          <a:noFill/>
        </p:spPr>
        <p:txBody>
          <a:bodyPr wrap="square">
            <a:spAutoFit/>
          </a:bodyPr>
          <a:lstStyle/>
          <a:p>
            <a:pPr>
              <a:lnSpc>
                <a:spcPct val="150000"/>
              </a:lnSpc>
            </a:pPr>
            <a:r>
              <a:rPr lang="en-GB" sz="2000" b="1" dirty="0">
                <a:solidFill>
                  <a:schemeClr val="bg2">
                    <a:lumMod val="50000"/>
                  </a:schemeClr>
                </a:solidFill>
                <a:latin typeface="Arial" panose="020B0604020202020204" pitchFamily="34" charset="0"/>
                <a:cs typeface="Arial" panose="020B0604020202020204" pitchFamily="34" charset="0"/>
              </a:rPr>
              <a:t>📈 Revenue Trend (Sales Performance)</a:t>
            </a:r>
          </a:p>
          <a:p>
            <a:pPr>
              <a:lnSpc>
                <a:spcPct val="150000"/>
              </a:lnSpc>
            </a:pPr>
            <a:r>
              <a:rPr lang="en-GB" sz="2000" dirty="0">
                <a:solidFill>
                  <a:schemeClr val="bg2">
                    <a:lumMod val="50000"/>
                  </a:schemeClr>
                </a:solidFill>
                <a:latin typeface="Arial" panose="020B0604020202020204" pitchFamily="34" charset="0"/>
                <a:cs typeface="Arial" panose="020B0604020202020204" pitchFamily="34" charset="0"/>
              </a:rPr>
              <a:t>Revenue shows strong performance during the first half of the year, with the </a:t>
            </a:r>
            <a:r>
              <a:rPr lang="en-GB" sz="2000" b="1" dirty="0">
                <a:solidFill>
                  <a:schemeClr val="bg2">
                    <a:lumMod val="50000"/>
                  </a:schemeClr>
                </a:solidFill>
                <a:latin typeface="Arial" panose="020B0604020202020204" pitchFamily="34" charset="0"/>
                <a:cs typeface="Arial" panose="020B0604020202020204" pitchFamily="34" charset="0"/>
              </a:rPr>
              <a:t>highest revenue observed in March at around 0.27M</a:t>
            </a:r>
            <a:r>
              <a:rPr lang="en-GB" sz="2000" dirty="0">
                <a:solidFill>
                  <a:schemeClr val="bg2">
                    <a:lumMod val="50000"/>
                  </a:schemeClr>
                </a:solidFill>
                <a:latin typeface="Arial" panose="020B0604020202020204" pitchFamily="34" charset="0"/>
                <a:cs typeface="Arial" panose="020B0604020202020204" pitchFamily="34" charset="0"/>
              </a:rPr>
              <a:t>. Sales remain relatively strong again during the </a:t>
            </a:r>
            <a:r>
              <a:rPr lang="en-GB" sz="2000" b="1" dirty="0">
                <a:solidFill>
                  <a:schemeClr val="bg2">
                    <a:lumMod val="50000"/>
                  </a:schemeClr>
                </a:solidFill>
                <a:latin typeface="Arial" panose="020B0604020202020204" pitchFamily="34" charset="0"/>
                <a:cs typeface="Arial" panose="020B0604020202020204" pitchFamily="34" charset="0"/>
              </a:rPr>
              <a:t>mid-year period (July–August), averaging around 0.23–0.24M</a:t>
            </a:r>
            <a:r>
              <a:rPr lang="en-GB" sz="2000" dirty="0">
                <a:solidFill>
                  <a:schemeClr val="bg2">
                    <a:lumMod val="50000"/>
                  </a:schemeClr>
                </a:solidFill>
                <a:latin typeface="Arial" panose="020B0604020202020204" pitchFamily="34" charset="0"/>
                <a:cs typeface="Arial" panose="020B0604020202020204" pitchFamily="34" charset="0"/>
              </a:rPr>
              <a:t>. However, revenue declines noticeably in </a:t>
            </a:r>
            <a:r>
              <a:rPr lang="en-GB" sz="2000" b="1" dirty="0">
                <a:solidFill>
                  <a:schemeClr val="bg2">
                    <a:lumMod val="50000"/>
                  </a:schemeClr>
                </a:solidFill>
                <a:latin typeface="Arial" panose="020B0604020202020204" pitchFamily="34" charset="0"/>
                <a:cs typeface="Arial" panose="020B0604020202020204" pitchFamily="34" charset="0"/>
              </a:rPr>
              <a:t>October and November</a:t>
            </a:r>
            <a:r>
              <a:rPr lang="en-GB" sz="2000" dirty="0">
                <a:solidFill>
                  <a:schemeClr val="bg2">
                    <a:lumMod val="50000"/>
                  </a:schemeClr>
                </a:solidFill>
                <a:latin typeface="Arial" panose="020B0604020202020204" pitchFamily="34" charset="0"/>
                <a:cs typeface="Arial" panose="020B0604020202020204" pitchFamily="34" charset="0"/>
              </a:rPr>
              <a:t>, reaching the </a:t>
            </a:r>
            <a:r>
              <a:rPr lang="en-GB" sz="2000" b="1" dirty="0">
                <a:solidFill>
                  <a:schemeClr val="bg2">
                    <a:lumMod val="50000"/>
                  </a:schemeClr>
                </a:solidFill>
                <a:latin typeface="Arial" panose="020B0604020202020204" pitchFamily="34" charset="0"/>
                <a:cs typeface="Arial" panose="020B0604020202020204" pitchFamily="34" charset="0"/>
              </a:rPr>
              <a:t>lowest level in November at approximately 0.14M</a:t>
            </a:r>
            <a:r>
              <a:rPr lang="en-GB" sz="2000" dirty="0">
                <a:solidFill>
                  <a:schemeClr val="bg2">
                    <a:lumMod val="50000"/>
                  </a:schemeClr>
                </a:solidFill>
                <a:latin typeface="Arial" panose="020B0604020202020204" pitchFamily="34" charset="0"/>
                <a:cs typeface="Arial" panose="020B0604020202020204" pitchFamily="34" charset="0"/>
              </a:rPr>
              <a:t>, which indicates a seasonal slowdown. A small recovery is seen in </a:t>
            </a:r>
            <a:r>
              <a:rPr lang="en-GB" sz="2000" b="1" dirty="0">
                <a:solidFill>
                  <a:schemeClr val="bg2">
                    <a:lumMod val="50000"/>
                  </a:schemeClr>
                </a:solidFill>
                <a:latin typeface="Arial" panose="020B0604020202020204" pitchFamily="34" charset="0"/>
                <a:cs typeface="Arial" panose="020B0604020202020204" pitchFamily="34" charset="0"/>
              </a:rPr>
              <a:t>December</a:t>
            </a:r>
            <a:r>
              <a:rPr lang="en-GB" sz="2000" dirty="0">
                <a:solidFill>
                  <a:schemeClr val="bg2">
                    <a:lumMod val="50000"/>
                  </a:schemeClr>
                </a:solidFill>
                <a:latin typeface="Arial" panose="020B0604020202020204" pitchFamily="34" charset="0"/>
                <a:cs typeface="Arial" panose="020B0604020202020204" pitchFamily="34" charset="0"/>
              </a:rPr>
              <a:t>, suggesting early signs of demand improvement.</a:t>
            </a:r>
          </a:p>
          <a:p>
            <a:pPr>
              <a:lnSpc>
                <a:spcPct val="150000"/>
              </a:lnSpc>
              <a:buNone/>
            </a:pPr>
            <a:r>
              <a:rPr lang="en-GB" sz="2000" b="1" dirty="0">
                <a:solidFill>
                  <a:schemeClr val="bg2">
                    <a:lumMod val="50000"/>
                  </a:schemeClr>
                </a:solidFill>
                <a:latin typeface="Arial" panose="020B0604020202020204" pitchFamily="34" charset="0"/>
                <a:cs typeface="Arial" panose="020B0604020202020204" pitchFamily="34" charset="0"/>
              </a:rPr>
              <a:t>💰 Expenditure Trend (Cost </a:t>
            </a:r>
            <a:r>
              <a:rPr lang="en-GB" sz="2000" b="1" dirty="0" err="1">
                <a:solidFill>
                  <a:schemeClr val="bg2">
                    <a:lumMod val="50000"/>
                  </a:schemeClr>
                </a:solidFill>
                <a:latin typeface="Arial" panose="020B0604020202020204" pitchFamily="34" charset="0"/>
                <a:cs typeface="Arial" panose="020B0604020202020204" pitchFamily="34" charset="0"/>
              </a:rPr>
              <a:t>Behavior</a:t>
            </a:r>
            <a:r>
              <a:rPr lang="en-GB" sz="2000" b="1" dirty="0">
                <a:solidFill>
                  <a:schemeClr val="bg2">
                    <a:lumMod val="50000"/>
                  </a:schemeClr>
                </a:solidFill>
                <a:latin typeface="Arial" panose="020B0604020202020204" pitchFamily="34" charset="0"/>
                <a:cs typeface="Arial" panose="020B0604020202020204" pitchFamily="34" charset="0"/>
              </a:rPr>
              <a:t>)</a:t>
            </a:r>
          </a:p>
          <a:p>
            <a:pPr>
              <a:lnSpc>
                <a:spcPct val="150000"/>
              </a:lnSpc>
              <a:buNone/>
            </a:pPr>
            <a:r>
              <a:rPr lang="en-GB" sz="2000" dirty="0">
                <a:solidFill>
                  <a:schemeClr val="bg2">
                    <a:lumMod val="50000"/>
                  </a:schemeClr>
                </a:solidFill>
                <a:latin typeface="Arial" panose="020B0604020202020204" pitchFamily="34" charset="0"/>
                <a:cs typeface="Arial" panose="020B0604020202020204" pitchFamily="34" charset="0"/>
              </a:rPr>
              <a:t>Expenditure closely follows the revenue pattern, indicating controlled and predictable cost </a:t>
            </a:r>
            <a:r>
              <a:rPr lang="en-GB" sz="2000" dirty="0" err="1">
                <a:solidFill>
                  <a:schemeClr val="bg2">
                    <a:lumMod val="50000"/>
                  </a:schemeClr>
                </a:solidFill>
                <a:latin typeface="Arial" panose="020B0604020202020204" pitchFamily="34" charset="0"/>
                <a:cs typeface="Arial" panose="020B0604020202020204" pitchFamily="34" charset="0"/>
              </a:rPr>
              <a:t>behavior</a:t>
            </a:r>
            <a:r>
              <a:rPr lang="en-GB" sz="2000" dirty="0">
                <a:solidFill>
                  <a:schemeClr val="bg2">
                    <a:lumMod val="50000"/>
                  </a:schemeClr>
                </a:solidFill>
                <a:latin typeface="Arial" panose="020B0604020202020204" pitchFamily="34" charset="0"/>
                <a:cs typeface="Arial" panose="020B0604020202020204" pitchFamily="34" charset="0"/>
              </a:rPr>
              <a:t>. The </a:t>
            </a:r>
            <a:r>
              <a:rPr lang="en-GB" sz="2000" b="1" dirty="0">
                <a:solidFill>
                  <a:schemeClr val="bg2">
                    <a:lumMod val="50000"/>
                  </a:schemeClr>
                </a:solidFill>
                <a:latin typeface="Arial" panose="020B0604020202020204" pitchFamily="34" charset="0"/>
                <a:cs typeface="Arial" panose="020B0604020202020204" pitchFamily="34" charset="0"/>
              </a:rPr>
              <a:t>highest expenditure occurs in July at around 0.21M</a:t>
            </a:r>
            <a:r>
              <a:rPr lang="en-GB" sz="2000" dirty="0">
                <a:solidFill>
                  <a:schemeClr val="bg2">
                    <a:lumMod val="50000"/>
                  </a:schemeClr>
                </a:solidFill>
                <a:latin typeface="Arial" panose="020B0604020202020204" pitchFamily="34" charset="0"/>
                <a:cs typeface="Arial" panose="020B0604020202020204" pitchFamily="34" charset="0"/>
              </a:rPr>
              <a:t>, aligning with peak business activity. The </a:t>
            </a:r>
            <a:r>
              <a:rPr lang="en-GB" sz="2000" b="1" dirty="0">
                <a:solidFill>
                  <a:schemeClr val="bg2">
                    <a:lumMod val="50000"/>
                  </a:schemeClr>
                </a:solidFill>
                <a:latin typeface="Arial" panose="020B0604020202020204" pitchFamily="34" charset="0"/>
                <a:cs typeface="Arial" panose="020B0604020202020204" pitchFamily="34" charset="0"/>
              </a:rPr>
              <a:t>lowest expenditure is observed in November at approximately 0.12M</a:t>
            </a:r>
            <a:r>
              <a:rPr lang="en-GB" sz="2000" dirty="0">
                <a:solidFill>
                  <a:schemeClr val="bg2">
                    <a:lumMod val="50000"/>
                  </a:schemeClr>
                </a:solidFill>
                <a:latin typeface="Arial" panose="020B0604020202020204" pitchFamily="34" charset="0"/>
                <a:cs typeface="Arial" panose="020B0604020202020204" pitchFamily="34" charset="0"/>
              </a:rPr>
              <a:t>, reflecting reduced operational activity. Overall, expenses remain consistently lower than revenue throughout the year, which supports healthy operating performance.</a:t>
            </a:r>
          </a:p>
          <a:p>
            <a:pPr>
              <a:lnSpc>
                <a:spcPct val="150000"/>
              </a:lnSpc>
              <a:buNone/>
            </a:pPr>
            <a:br>
              <a:rPr lang="en-GB" sz="2000" dirty="0">
                <a:solidFill>
                  <a:schemeClr val="bg2">
                    <a:lumMod val="50000"/>
                  </a:schemeClr>
                </a:solidFill>
                <a:latin typeface="Arial" panose="020B0604020202020204" pitchFamily="34" charset="0"/>
                <a:cs typeface="Arial" panose="020B0604020202020204" pitchFamily="34" charset="0"/>
              </a:rPr>
            </a:br>
            <a:endParaRPr lang="en-IN" sz="2000" dirty="0">
              <a:solidFill>
                <a:schemeClr val="bg2">
                  <a:lumMod val="50000"/>
                </a:schemeClr>
              </a:solidFill>
              <a:latin typeface="Arial" panose="020B0604020202020204" pitchFamily="34" charset="0"/>
              <a:cs typeface="Arial" panose="020B0604020202020204" pitchFamily="34" charset="0"/>
            </a:endParaRPr>
          </a:p>
          <a:p>
            <a:pPr>
              <a:lnSpc>
                <a:spcPct val="150000"/>
              </a:lnSpc>
            </a:pPr>
            <a:endParaRPr lang="en-GB" sz="2000" dirty="0">
              <a:solidFill>
                <a:schemeClr val="bg2">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517378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42D5A33-502A-BCDF-9D04-5286529D25F3}"/>
              </a:ext>
            </a:extLst>
          </p:cNvPr>
          <p:cNvSpPr txBox="1"/>
          <p:nvPr/>
        </p:nvSpPr>
        <p:spPr>
          <a:xfrm>
            <a:off x="365760" y="274320"/>
            <a:ext cx="11681460" cy="6960303"/>
          </a:xfrm>
          <a:prstGeom prst="rect">
            <a:avLst/>
          </a:prstGeom>
          <a:noFill/>
        </p:spPr>
        <p:txBody>
          <a:bodyPr wrap="square">
            <a:spAutoFit/>
          </a:bodyPr>
          <a:lstStyle/>
          <a:p>
            <a:pPr>
              <a:lnSpc>
                <a:spcPct val="150000"/>
              </a:lnSpc>
              <a:buNone/>
            </a:pPr>
            <a:r>
              <a:rPr lang="en-GB" sz="2000" b="1" dirty="0">
                <a:solidFill>
                  <a:schemeClr val="bg2">
                    <a:lumMod val="50000"/>
                  </a:schemeClr>
                </a:solidFill>
                <a:latin typeface="Arial" panose="020B0604020202020204" pitchFamily="34" charset="0"/>
                <a:cs typeface="Arial" panose="020B0604020202020204" pitchFamily="34" charset="0"/>
              </a:rPr>
              <a:t>📉 Net Income Trend (Profitability)</a:t>
            </a:r>
          </a:p>
          <a:p>
            <a:pPr>
              <a:lnSpc>
                <a:spcPct val="150000"/>
              </a:lnSpc>
              <a:buNone/>
            </a:pPr>
            <a:r>
              <a:rPr lang="en-GB" sz="2000" dirty="0">
                <a:solidFill>
                  <a:schemeClr val="bg2">
                    <a:lumMod val="50000"/>
                  </a:schemeClr>
                </a:solidFill>
                <a:latin typeface="Arial" panose="020B0604020202020204" pitchFamily="34" charset="0"/>
                <a:cs typeface="Arial" panose="020B0604020202020204" pitchFamily="34" charset="0"/>
              </a:rPr>
              <a:t>Net income remains relatively stable for most of the year, highlighting consistent profitability. The </a:t>
            </a:r>
            <a:r>
              <a:rPr lang="en-GB" sz="2000" b="1" dirty="0">
                <a:solidFill>
                  <a:schemeClr val="bg2">
                    <a:lumMod val="50000"/>
                  </a:schemeClr>
                </a:solidFill>
                <a:latin typeface="Arial" panose="020B0604020202020204" pitchFamily="34" charset="0"/>
                <a:cs typeface="Arial" panose="020B0604020202020204" pitchFamily="34" charset="0"/>
              </a:rPr>
              <a:t>highest net income is seen in January and July at around 0.20–0.21M</a:t>
            </a:r>
            <a:r>
              <a:rPr lang="en-GB" sz="2000" dirty="0">
                <a:solidFill>
                  <a:schemeClr val="bg2">
                    <a:lumMod val="50000"/>
                  </a:schemeClr>
                </a:solidFill>
                <a:latin typeface="Arial" panose="020B0604020202020204" pitchFamily="34" charset="0"/>
                <a:cs typeface="Arial" panose="020B0604020202020204" pitchFamily="34" charset="0"/>
              </a:rPr>
              <a:t>, corresponding to periods of strong revenue. A noticeable decline occurs during </a:t>
            </a:r>
            <a:r>
              <a:rPr lang="en-GB" sz="2000" b="1" dirty="0">
                <a:solidFill>
                  <a:schemeClr val="bg2">
                    <a:lumMod val="50000"/>
                  </a:schemeClr>
                </a:solidFill>
                <a:latin typeface="Arial" panose="020B0604020202020204" pitchFamily="34" charset="0"/>
                <a:cs typeface="Arial" panose="020B0604020202020204" pitchFamily="34" charset="0"/>
              </a:rPr>
              <a:t>October and November</a:t>
            </a:r>
            <a:r>
              <a:rPr lang="en-GB" sz="2000" dirty="0">
                <a:solidFill>
                  <a:schemeClr val="bg2">
                    <a:lumMod val="50000"/>
                  </a:schemeClr>
                </a:solidFill>
                <a:latin typeface="Arial" panose="020B0604020202020204" pitchFamily="34" charset="0"/>
                <a:cs typeface="Arial" panose="020B0604020202020204" pitchFamily="34" charset="0"/>
              </a:rPr>
              <a:t>, where net income falls to approximately </a:t>
            </a:r>
            <a:r>
              <a:rPr lang="en-GB" sz="2000" b="1" dirty="0">
                <a:solidFill>
                  <a:schemeClr val="bg2">
                    <a:lumMod val="50000"/>
                  </a:schemeClr>
                </a:solidFill>
                <a:latin typeface="Arial" panose="020B0604020202020204" pitchFamily="34" charset="0"/>
                <a:cs typeface="Arial" panose="020B0604020202020204" pitchFamily="34" charset="0"/>
              </a:rPr>
              <a:t>0.13–0.14M</a:t>
            </a:r>
            <a:r>
              <a:rPr lang="en-GB" sz="2000" dirty="0">
                <a:solidFill>
                  <a:schemeClr val="bg2">
                    <a:lumMod val="50000"/>
                  </a:schemeClr>
                </a:solidFill>
                <a:latin typeface="Arial" panose="020B0604020202020204" pitchFamily="34" charset="0"/>
                <a:cs typeface="Arial" panose="020B0604020202020204" pitchFamily="34" charset="0"/>
              </a:rPr>
              <a:t>, driven by reduced sales. A slight stabilization toward December indicates improving performance.</a:t>
            </a:r>
          </a:p>
          <a:p>
            <a:pPr>
              <a:lnSpc>
                <a:spcPct val="150000"/>
              </a:lnSpc>
              <a:buNone/>
            </a:pPr>
            <a:endParaRPr lang="en-GB" sz="2000" dirty="0">
              <a:solidFill>
                <a:schemeClr val="bg2">
                  <a:lumMod val="50000"/>
                </a:schemeClr>
              </a:solidFill>
              <a:latin typeface="Arial" panose="020B0604020202020204" pitchFamily="34" charset="0"/>
              <a:cs typeface="Arial" panose="020B0604020202020204" pitchFamily="34" charset="0"/>
            </a:endParaRPr>
          </a:p>
          <a:p>
            <a:pPr>
              <a:lnSpc>
                <a:spcPct val="150000"/>
              </a:lnSpc>
              <a:buNone/>
            </a:pPr>
            <a:r>
              <a:rPr lang="en-GB" sz="2000" b="1" dirty="0">
                <a:solidFill>
                  <a:schemeClr val="bg2">
                    <a:lumMod val="50000"/>
                  </a:schemeClr>
                </a:solidFill>
                <a:latin typeface="Arial" panose="020B0604020202020204" pitchFamily="34" charset="0"/>
                <a:cs typeface="Arial" panose="020B0604020202020204" pitchFamily="34" charset="0"/>
              </a:rPr>
              <a:t>📊 Profit Margin Trend (Operational Efficiency)</a:t>
            </a:r>
          </a:p>
          <a:p>
            <a:pPr>
              <a:lnSpc>
                <a:spcPct val="150000"/>
              </a:lnSpc>
              <a:buNone/>
            </a:pPr>
            <a:r>
              <a:rPr lang="en-GB" sz="2000" dirty="0">
                <a:solidFill>
                  <a:schemeClr val="bg2">
                    <a:lumMod val="50000"/>
                  </a:schemeClr>
                </a:solidFill>
                <a:latin typeface="Arial" panose="020B0604020202020204" pitchFamily="34" charset="0"/>
                <a:cs typeface="Arial" panose="020B0604020202020204" pitchFamily="34" charset="0"/>
              </a:rPr>
              <a:t>Profit margin fluctuates across the year but remains strong overall, averaging above </a:t>
            </a:r>
            <a:r>
              <a:rPr lang="en-GB" sz="2000" b="1" dirty="0">
                <a:solidFill>
                  <a:schemeClr val="bg2">
                    <a:lumMod val="50000"/>
                  </a:schemeClr>
                </a:solidFill>
                <a:latin typeface="Arial" panose="020B0604020202020204" pitchFamily="34" charset="0"/>
                <a:cs typeface="Arial" panose="020B0604020202020204" pitchFamily="34" charset="0"/>
              </a:rPr>
              <a:t>80%</a:t>
            </a:r>
            <a:r>
              <a:rPr lang="en-GB" sz="2000" dirty="0">
                <a:solidFill>
                  <a:schemeClr val="bg2">
                    <a:lumMod val="50000"/>
                  </a:schemeClr>
                </a:solidFill>
                <a:latin typeface="Arial" panose="020B0604020202020204" pitchFamily="34" charset="0"/>
                <a:cs typeface="Arial" panose="020B0604020202020204" pitchFamily="34" charset="0"/>
              </a:rPr>
              <a:t>, which indicates high operational efficiency. The </a:t>
            </a:r>
            <a:r>
              <a:rPr lang="en-GB" sz="2000" b="1" dirty="0">
                <a:solidFill>
                  <a:schemeClr val="bg2">
                    <a:lumMod val="50000"/>
                  </a:schemeClr>
                </a:solidFill>
                <a:latin typeface="Arial" panose="020B0604020202020204" pitchFamily="34" charset="0"/>
                <a:cs typeface="Arial" panose="020B0604020202020204" pitchFamily="34" charset="0"/>
              </a:rPr>
              <a:t>highest profit margin is observed in November at approximately 95%</a:t>
            </a:r>
            <a:r>
              <a:rPr lang="en-GB" sz="2000" dirty="0">
                <a:solidFill>
                  <a:schemeClr val="bg2">
                    <a:lumMod val="50000"/>
                  </a:schemeClr>
                </a:solidFill>
                <a:latin typeface="Arial" panose="020B0604020202020204" pitchFamily="34" charset="0"/>
                <a:cs typeface="Arial" panose="020B0604020202020204" pitchFamily="34" charset="0"/>
              </a:rPr>
              <a:t>, showing effective cost control even during low sales periods. The </a:t>
            </a:r>
            <a:r>
              <a:rPr lang="en-GB" sz="2000" b="1" dirty="0">
                <a:solidFill>
                  <a:schemeClr val="bg2">
                    <a:lumMod val="50000"/>
                  </a:schemeClr>
                </a:solidFill>
                <a:latin typeface="Arial" panose="020B0604020202020204" pitchFamily="34" charset="0"/>
                <a:cs typeface="Arial" panose="020B0604020202020204" pitchFamily="34" charset="0"/>
              </a:rPr>
              <a:t>lowest margin appears in March at around 72%</a:t>
            </a:r>
            <a:r>
              <a:rPr lang="en-GB" sz="2000" dirty="0">
                <a:solidFill>
                  <a:schemeClr val="bg2">
                    <a:lumMod val="50000"/>
                  </a:schemeClr>
                </a:solidFill>
                <a:latin typeface="Arial" panose="020B0604020202020204" pitchFamily="34" charset="0"/>
                <a:cs typeface="Arial" panose="020B0604020202020204" pitchFamily="34" charset="0"/>
              </a:rPr>
              <a:t>, suggesting higher costs relative to revenue during that month. This trend highlights opportunities for cost optimization during high-revenue months.</a:t>
            </a:r>
            <a:br>
              <a:rPr lang="en-GB" sz="2000" dirty="0">
                <a:solidFill>
                  <a:schemeClr val="bg2">
                    <a:lumMod val="50000"/>
                  </a:schemeClr>
                </a:solidFill>
                <a:latin typeface="Arial" panose="020B0604020202020204" pitchFamily="34" charset="0"/>
                <a:cs typeface="Arial" panose="020B0604020202020204" pitchFamily="34" charset="0"/>
              </a:rPr>
            </a:br>
            <a:endParaRPr lang="en-GB" sz="2000" dirty="0">
              <a:solidFill>
                <a:schemeClr val="bg2">
                  <a:lumMod val="50000"/>
                </a:schemeClr>
              </a:solidFill>
              <a:latin typeface="Arial" panose="020B0604020202020204" pitchFamily="34" charset="0"/>
              <a:cs typeface="Arial" panose="020B0604020202020204" pitchFamily="34" charset="0"/>
            </a:endParaRPr>
          </a:p>
          <a:p>
            <a:pPr>
              <a:lnSpc>
                <a:spcPct val="150000"/>
              </a:lnSpc>
              <a:buNone/>
            </a:pPr>
            <a:r>
              <a:rPr lang="en-GB" sz="2000" dirty="0">
                <a:solidFill>
                  <a:schemeClr val="bg2">
                    <a:lumMod val="50000"/>
                  </a:schemeClr>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637007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CC8C5C2-C0A5-A5E4-41CC-C326DB200FE0}"/>
              </a:ext>
            </a:extLst>
          </p:cNvPr>
          <p:cNvSpPr txBox="1"/>
          <p:nvPr/>
        </p:nvSpPr>
        <p:spPr>
          <a:xfrm>
            <a:off x="449580" y="1538866"/>
            <a:ext cx="11308080" cy="2804999"/>
          </a:xfrm>
          <a:prstGeom prst="rect">
            <a:avLst/>
          </a:prstGeom>
          <a:noFill/>
        </p:spPr>
        <p:txBody>
          <a:bodyPr wrap="square">
            <a:spAutoFit/>
          </a:bodyPr>
          <a:lstStyle/>
          <a:p>
            <a:pPr>
              <a:lnSpc>
                <a:spcPct val="150000"/>
              </a:lnSpc>
              <a:buNone/>
            </a:pPr>
            <a:r>
              <a:rPr lang="en-GB" sz="2000" b="1" dirty="0">
                <a:solidFill>
                  <a:schemeClr val="bg2">
                    <a:lumMod val="50000"/>
                  </a:schemeClr>
                </a:solidFill>
                <a:latin typeface="Arial" panose="020B0604020202020204" pitchFamily="34" charset="0"/>
                <a:cs typeface="Arial" panose="020B0604020202020204" pitchFamily="34" charset="0"/>
              </a:rPr>
              <a:t>⚖️ Debt-to-Equity Ratio Trend (Financial Risk)</a:t>
            </a:r>
          </a:p>
          <a:p>
            <a:pPr>
              <a:lnSpc>
                <a:spcPct val="150000"/>
              </a:lnSpc>
              <a:buNone/>
            </a:pPr>
            <a:r>
              <a:rPr lang="en-GB" sz="2000" dirty="0">
                <a:solidFill>
                  <a:schemeClr val="bg2">
                    <a:lumMod val="50000"/>
                  </a:schemeClr>
                </a:solidFill>
                <a:latin typeface="Arial" panose="020B0604020202020204" pitchFamily="34" charset="0"/>
                <a:cs typeface="Arial" panose="020B0604020202020204" pitchFamily="34" charset="0"/>
              </a:rPr>
              <a:t>The debt-to-equity ratio increases gradually from the beginning of the year and reaches its </a:t>
            </a:r>
            <a:r>
              <a:rPr lang="en-GB" sz="2000" b="1" dirty="0">
                <a:solidFill>
                  <a:schemeClr val="bg2">
                    <a:lumMod val="50000"/>
                  </a:schemeClr>
                </a:solidFill>
                <a:latin typeface="Arial" panose="020B0604020202020204" pitchFamily="34" charset="0"/>
                <a:cs typeface="Arial" panose="020B0604020202020204" pitchFamily="34" charset="0"/>
              </a:rPr>
              <a:t>highest point in September at around 1.9</a:t>
            </a:r>
            <a:r>
              <a:rPr lang="en-GB" sz="2000" dirty="0">
                <a:solidFill>
                  <a:schemeClr val="bg2">
                    <a:lumMod val="50000"/>
                  </a:schemeClr>
                </a:solidFill>
                <a:latin typeface="Arial" panose="020B0604020202020204" pitchFamily="34" charset="0"/>
                <a:cs typeface="Arial" panose="020B0604020202020204" pitchFamily="34" charset="0"/>
              </a:rPr>
              <a:t>, indicating higher leverage during business expansion. Lower ratios are observed in </a:t>
            </a:r>
            <a:r>
              <a:rPr lang="en-GB" sz="2000" b="1" dirty="0">
                <a:solidFill>
                  <a:schemeClr val="bg2">
                    <a:lumMod val="50000"/>
                  </a:schemeClr>
                </a:solidFill>
                <a:latin typeface="Arial" panose="020B0604020202020204" pitchFamily="34" charset="0"/>
                <a:cs typeface="Arial" panose="020B0604020202020204" pitchFamily="34" charset="0"/>
              </a:rPr>
              <a:t>January and July at approximately 1.7</a:t>
            </a:r>
            <a:r>
              <a:rPr lang="en-GB" sz="2000" dirty="0">
                <a:solidFill>
                  <a:schemeClr val="bg2">
                    <a:lumMod val="50000"/>
                  </a:schemeClr>
                </a:solidFill>
                <a:latin typeface="Arial" panose="020B0604020202020204" pitchFamily="34" charset="0"/>
                <a:cs typeface="Arial" panose="020B0604020202020204" pitchFamily="34" charset="0"/>
              </a:rPr>
              <a:t>, reflecting a more balanced capital structure. Toward the end of the year, the ratio declines slightly, suggesting improved financial discipline and controlled borrowing</a:t>
            </a:r>
            <a:endParaRPr lang="en-IN" sz="2000" dirty="0"/>
          </a:p>
        </p:txBody>
      </p:sp>
    </p:spTree>
    <p:extLst>
      <p:ext uri="{BB962C8B-B14F-4D97-AF65-F5344CB8AC3E}">
        <p14:creationId xmlns:p14="http://schemas.microsoft.com/office/powerpoint/2010/main" val="22505172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841B7DD-1EC6-0604-7FCC-B02110D16D92}"/>
              </a:ext>
            </a:extLst>
          </p:cNvPr>
          <p:cNvSpPr txBox="1"/>
          <p:nvPr/>
        </p:nvSpPr>
        <p:spPr>
          <a:xfrm>
            <a:off x="784860" y="403860"/>
            <a:ext cx="10759440" cy="6498639"/>
          </a:xfrm>
          <a:prstGeom prst="rect">
            <a:avLst/>
          </a:prstGeom>
          <a:noFill/>
        </p:spPr>
        <p:txBody>
          <a:bodyPr wrap="square">
            <a:spAutoFit/>
          </a:bodyPr>
          <a:lstStyle/>
          <a:p>
            <a:pPr>
              <a:lnSpc>
                <a:spcPct val="150000"/>
              </a:lnSpc>
            </a:pPr>
            <a:r>
              <a:rPr lang="en-GB" sz="2000" b="1" dirty="0">
                <a:solidFill>
                  <a:schemeClr val="bg2">
                    <a:lumMod val="50000"/>
                  </a:schemeClr>
                </a:solidFill>
                <a:effectLst/>
                <a:latin typeface="Arial" panose="020B0604020202020204" pitchFamily="34" charset="0"/>
                <a:cs typeface="Arial" panose="020B0604020202020204" pitchFamily="34" charset="0"/>
              </a:rPr>
              <a:t> </a:t>
            </a:r>
            <a:r>
              <a:rPr lang="en-GB" sz="2000" dirty="0">
                <a:solidFill>
                  <a:schemeClr val="bg2">
                    <a:lumMod val="50000"/>
                  </a:schemeClr>
                </a:solidFill>
                <a:latin typeface="Arial" panose="020B0604020202020204" pitchFamily="34" charset="0"/>
                <a:cs typeface="Arial" panose="020B0604020202020204" pitchFamily="34" charset="0"/>
              </a:rPr>
              <a:t>Overall, the company demonstrates stable revenue growth, controlled expenditure, consistent profitability, and manageable financial risk. While seasonal declines are observed in the last quarter, strong cost control helps maintain healthy profit margins, indicating a financially stable and well-managed business.</a:t>
            </a:r>
          </a:p>
          <a:p>
            <a:pPr>
              <a:lnSpc>
                <a:spcPct val="150000"/>
              </a:lnSpc>
              <a:buNone/>
            </a:pPr>
            <a:r>
              <a:rPr lang="en-GB" sz="2000" b="0" dirty="0">
                <a:solidFill>
                  <a:schemeClr val="bg2">
                    <a:lumMod val="50000"/>
                  </a:schemeClr>
                </a:solidFill>
                <a:effectLst/>
                <a:latin typeface="Arial" panose="020B0604020202020204" pitchFamily="34" charset="0"/>
                <a:cs typeface="Arial" panose="020B0604020202020204" pitchFamily="34" charset="0"/>
              </a:rPr>
              <a:t>The analysis shows that the company maintains </a:t>
            </a:r>
          </a:p>
          <a:p>
            <a:pPr>
              <a:lnSpc>
                <a:spcPct val="150000"/>
              </a:lnSpc>
              <a:buNone/>
            </a:pPr>
            <a:r>
              <a:rPr lang="en-GB" sz="2000" b="1" dirty="0">
                <a:solidFill>
                  <a:schemeClr val="bg2">
                    <a:lumMod val="50000"/>
                  </a:schemeClr>
                </a:solidFill>
                <a:effectLst/>
                <a:latin typeface="Arial" panose="020B0604020202020204" pitchFamily="34" charset="0"/>
                <a:cs typeface="Arial" panose="020B0604020202020204" pitchFamily="34" charset="0"/>
              </a:rPr>
              <a:t>**stable profitability, controlled expenses, and acceptable debt levels**</a:t>
            </a:r>
            <a:r>
              <a:rPr lang="en-GB" sz="2000" b="0" dirty="0">
                <a:solidFill>
                  <a:schemeClr val="bg2">
                    <a:lumMod val="50000"/>
                  </a:schemeClr>
                </a:solidFill>
                <a:effectLst/>
                <a:latin typeface="Arial" panose="020B0604020202020204" pitchFamily="34" charset="0"/>
                <a:cs typeface="Arial" panose="020B0604020202020204" pitchFamily="34" charset="0"/>
              </a:rPr>
              <a:t>.</a:t>
            </a:r>
          </a:p>
          <a:p>
            <a:pPr>
              <a:lnSpc>
                <a:spcPct val="150000"/>
              </a:lnSpc>
              <a:buNone/>
            </a:pPr>
            <a:r>
              <a:rPr lang="en-GB" sz="2000" b="0" dirty="0">
                <a:solidFill>
                  <a:schemeClr val="bg2">
                    <a:lumMod val="50000"/>
                  </a:schemeClr>
                </a:solidFill>
                <a:effectLst/>
                <a:latin typeface="Arial" panose="020B0604020202020204" pitchFamily="34" charset="0"/>
                <a:cs typeface="Arial" panose="020B0604020202020204" pitchFamily="34" charset="0"/>
              </a:rPr>
              <a:t> </a:t>
            </a:r>
            <a:r>
              <a:rPr lang="en-GB" sz="2000" b="1" dirty="0">
                <a:solidFill>
                  <a:schemeClr val="bg2">
                    <a:lumMod val="50000"/>
                  </a:schemeClr>
                </a:solidFill>
                <a:effectLst/>
                <a:latin typeface="Arial" panose="020B0604020202020204" pitchFamily="34" charset="0"/>
                <a:cs typeface="Arial" panose="020B0604020202020204" pitchFamily="34" charset="0"/>
              </a:rPr>
              <a:t>Opportunities exist to:</a:t>
            </a:r>
          </a:p>
          <a:p>
            <a:pPr marL="342900" indent="-342900">
              <a:lnSpc>
                <a:spcPct val="150000"/>
              </a:lnSpc>
              <a:buFont typeface="Wingdings" panose="05000000000000000000" pitchFamily="2" charset="2"/>
              <a:buChar char="v"/>
            </a:pPr>
            <a:r>
              <a:rPr lang="en-GB" sz="2000" b="0" dirty="0">
                <a:solidFill>
                  <a:schemeClr val="bg2">
                    <a:lumMod val="50000"/>
                  </a:schemeClr>
                </a:solidFill>
                <a:effectLst/>
                <a:latin typeface="Arial" panose="020B0604020202020204" pitchFamily="34" charset="0"/>
                <a:cs typeface="Arial" panose="020B0604020202020204" pitchFamily="34" charset="0"/>
              </a:rPr>
              <a:t>Improve performance during seasonal downturns</a:t>
            </a:r>
          </a:p>
          <a:p>
            <a:pPr marL="342900" indent="-342900">
              <a:lnSpc>
                <a:spcPct val="150000"/>
              </a:lnSpc>
              <a:buFont typeface="Wingdings" panose="05000000000000000000" pitchFamily="2" charset="2"/>
              <a:buChar char="v"/>
            </a:pPr>
            <a:r>
              <a:rPr lang="en-GB" sz="2000" b="0" dirty="0">
                <a:solidFill>
                  <a:schemeClr val="bg2">
                    <a:lumMod val="50000"/>
                  </a:schemeClr>
                </a:solidFill>
                <a:effectLst/>
                <a:latin typeface="Arial" panose="020B0604020202020204" pitchFamily="34" charset="0"/>
                <a:cs typeface="Arial" panose="020B0604020202020204" pitchFamily="34" charset="0"/>
              </a:rPr>
              <a:t>Monitor mid‑year expense increases</a:t>
            </a:r>
          </a:p>
          <a:p>
            <a:pPr marL="342900" indent="-342900">
              <a:lnSpc>
                <a:spcPct val="150000"/>
              </a:lnSpc>
              <a:buFont typeface="Wingdings" panose="05000000000000000000" pitchFamily="2" charset="2"/>
              <a:buChar char="v"/>
            </a:pPr>
            <a:r>
              <a:rPr lang="en-GB" sz="2000" b="0" dirty="0">
                <a:solidFill>
                  <a:schemeClr val="bg2">
                    <a:lumMod val="50000"/>
                  </a:schemeClr>
                </a:solidFill>
                <a:effectLst/>
                <a:latin typeface="Arial" panose="020B0604020202020204" pitchFamily="34" charset="0"/>
                <a:cs typeface="Arial" panose="020B0604020202020204" pitchFamily="34" charset="0"/>
              </a:rPr>
              <a:t>Maintain optimal leverage ratios</a:t>
            </a:r>
          </a:p>
          <a:p>
            <a:pPr marL="342900" indent="-342900">
              <a:lnSpc>
                <a:spcPct val="150000"/>
              </a:lnSpc>
              <a:buFont typeface="Wingdings" panose="05000000000000000000" pitchFamily="2" charset="2"/>
              <a:buChar char="v"/>
            </a:pPr>
            <a:r>
              <a:rPr lang="en-GB" sz="2000" b="0" dirty="0">
                <a:solidFill>
                  <a:schemeClr val="bg2">
                    <a:lumMod val="50000"/>
                  </a:schemeClr>
                </a:solidFill>
                <a:effectLst/>
                <a:latin typeface="Arial" panose="020B0604020202020204" pitchFamily="34" charset="0"/>
                <a:cs typeface="Arial" panose="020B0604020202020204" pitchFamily="34" charset="0"/>
              </a:rPr>
              <a:t>This project demonstrates the ability to:</a:t>
            </a:r>
          </a:p>
          <a:p>
            <a:pPr marL="342900" indent="-342900">
              <a:lnSpc>
                <a:spcPct val="150000"/>
              </a:lnSpc>
              <a:buFont typeface="Wingdings" panose="05000000000000000000" pitchFamily="2" charset="2"/>
              <a:buChar char="v"/>
            </a:pPr>
            <a:r>
              <a:rPr lang="en-GB" sz="2000" b="0" dirty="0">
                <a:solidFill>
                  <a:schemeClr val="bg2">
                    <a:lumMod val="50000"/>
                  </a:schemeClr>
                </a:solidFill>
                <a:effectLst/>
                <a:latin typeface="Arial" panose="020B0604020202020204" pitchFamily="34" charset="0"/>
                <a:cs typeface="Arial" panose="020B0604020202020204" pitchFamily="34" charset="0"/>
              </a:rPr>
              <a:t>Clean and model financial data</a:t>
            </a:r>
          </a:p>
          <a:p>
            <a:pPr marL="342900" indent="-342900">
              <a:lnSpc>
                <a:spcPct val="150000"/>
              </a:lnSpc>
              <a:buFont typeface="Wingdings" panose="05000000000000000000" pitchFamily="2" charset="2"/>
              <a:buChar char="v"/>
            </a:pPr>
            <a:r>
              <a:rPr lang="en-GB" sz="2000" b="0" dirty="0">
                <a:solidFill>
                  <a:schemeClr val="bg2">
                    <a:lumMod val="50000"/>
                  </a:schemeClr>
                </a:solidFill>
                <a:effectLst/>
                <a:latin typeface="Arial" panose="020B0604020202020204" pitchFamily="34" charset="0"/>
                <a:cs typeface="Arial" panose="020B0604020202020204" pitchFamily="34" charset="0"/>
              </a:rPr>
              <a:t>Build professional Power BI dashboards</a:t>
            </a:r>
          </a:p>
          <a:p>
            <a:pPr marL="342900" indent="-342900">
              <a:lnSpc>
                <a:spcPct val="150000"/>
              </a:lnSpc>
              <a:buFont typeface="Wingdings" panose="05000000000000000000" pitchFamily="2" charset="2"/>
              <a:buChar char="v"/>
            </a:pPr>
            <a:r>
              <a:rPr lang="en-GB" sz="2000" b="0" dirty="0">
                <a:solidFill>
                  <a:schemeClr val="bg2">
                    <a:lumMod val="50000"/>
                  </a:schemeClr>
                </a:solidFill>
                <a:effectLst/>
                <a:latin typeface="Arial" panose="020B0604020202020204" pitchFamily="34" charset="0"/>
                <a:cs typeface="Arial" panose="020B0604020202020204" pitchFamily="34" charset="0"/>
              </a:rPr>
              <a:t>Translate data into meaningful business insights</a:t>
            </a:r>
          </a:p>
        </p:txBody>
      </p:sp>
      <p:sp>
        <p:nvSpPr>
          <p:cNvPr id="5" name="TextBox 4">
            <a:extLst>
              <a:ext uri="{FF2B5EF4-FFF2-40B4-BE49-F238E27FC236}">
                <a16:creationId xmlns:a16="http://schemas.microsoft.com/office/drawing/2014/main" id="{5A0857E1-63DD-89B2-9359-09B6828183CE}"/>
              </a:ext>
            </a:extLst>
          </p:cNvPr>
          <p:cNvSpPr txBox="1"/>
          <p:nvPr/>
        </p:nvSpPr>
        <p:spPr>
          <a:xfrm>
            <a:off x="548640" y="-3125"/>
            <a:ext cx="11148060" cy="584775"/>
          </a:xfrm>
          <a:prstGeom prst="rect">
            <a:avLst/>
          </a:prstGeom>
          <a:noFill/>
        </p:spPr>
        <p:txBody>
          <a:bodyPr wrap="square">
            <a:spAutoFit/>
          </a:bodyPr>
          <a:lstStyle/>
          <a:p>
            <a:pPr algn="ctr"/>
            <a:r>
              <a:rPr lang="en-IN" sz="3200" b="1" dirty="0">
                <a:solidFill>
                  <a:schemeClr val="bg2">
                    <a:lumMod val="50000"/>
                  </a:schemeClr>
                </a:solidFill>
                <a:latin typeface="Arial" panose="020B0604020202020204" pitchFamily="34" charset="0"/>
                <a:cs typeface="Arial" panose="020B0604020202020204" pitchFamily="34" charset="0"/>
              </a:rPr>
              <a:t>Conclusion &amp; Recommendation</a:t>
            </a:r>
          </a:p>
        </p:txBody>
      </p:sp>
    </p:spTree>
    <p:extLst>
      <p:ext uri="{BB962C8B-B14F-4D97-AF65-F5344CB8AC3E}">
        <p14:creationId xmlns:p14="http://schemas.microsoft.com/office/powerpoint/2010/main" val="1707444266"/>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194</TotalTime>
  <Words>752</Words>
  <Application>Microsoft Office PowerPoint</Application>
  <PresentationFormat>Widescreen</PresentationFormat>
  <Paragraphs>60</Paragraphs>
  <Slides>7</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7</vt:i4>
      </vt:variant>
    </vt:vector>
  </HeadingPairs>
  <TitlesOfParts>
    <vt:vector size="15" baseType="lpstr">
      <vt:lpstr>Arial</vt:lpstr>
      <vt:lpstr>Calibri</vt:lpstr>
      <vt:lpstr>Calibri Light</vt:lpstr>
      <vt:lpstr>Century Gothic</vt:lpstr>
      <vt:lpstr>Wingdings</vt:lpstr>
      <vt:lpstr>Wingdings 3</vt:lpstr>
      <vt:lpstr>Custom Design</vt:lpstr>
      <vt:lpstr>Slice</vt:lpstr>
      <vt:lpstr>         </vt:lpstr>
      <vt:lpstr>Dashboard</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Kalpana Sharma</cp:lastModifiedBy>
  <cp:revision>10</cp:revision>
  <dcterms:created xsi:type="dcterms:W3CDTF">2016-09-04T11:54:55Z</dcterms:created>
  <dcterms:modified xsi:type="dcterms:W3CDTF">2026-01-30T10:55:45Z</dcterms:modified>
</cp:coreProperties>
</file>